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21031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097280" y="2606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Disposition Analysis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097280" y="3383280"/>
            <a:ext cx="1097280" cy="45720"/>
          </a:xfrm>
          <a:prstGeom prst="rect">
            <a:avLst/>
          </a:prstGeom>
          <a:solidFill>
            <a:srgbClr val="E6A500"/>
          </a:solidFill>
          <a:ln w="12700">
            <a:solidFill>
              <a:srgbClr val="E6A5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35204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Third-Party Sale vs REO Reversion at Auction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5029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5257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ServiceLink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5669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  |  Technical Briefing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3657600" cy="137160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365760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2542032"/>
            <a:ext cx="365760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ROC-AUC (random split)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691640"/>
            <a:ext cx="3657600" cy="137160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0" y="1828800"/>
            <a:ext cx="365760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297680" y="2542032"/>
            <a:ext cx="365760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Top-decile / bottom-decile sale-rate spread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691640"/>
            <a:ext cx="3657600" cy="137160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1828800"/>
            <a:ext cx="365760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$63–128M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046720" y="2542032"/>
            <a:ext cx="365760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annual value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3246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fundamentals and market context dominate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6118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drivers (state, equity, BPO discount, LTV, property type) account for ~60% of feature importance. The model identifies high-confidence sales before any auction marketing begins.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88720" y="4251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Auction venue is not a meaningful lever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4617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Judicial vs non-judicial: 0.4pp gap. Online vs offline (indirect test): 3.4pp raw, but collapses to 0.18pp after controlling for market context — a market-selection effect, not a venue effect.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30352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03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88720" y="5257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Decile-based triage is the operational lever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88720" y="56235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Bottom-2 deciles carry 84% REO rate. Targeted intervention there (early loss mitigation, mod-to-market) at 5–15% effectiveness yields $33–98M, plus $30M from top-decile efficiency.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set out to solve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foreclosed property goes to auction, two outcomes are possible: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5440680" cy="2194560"/>
          </a:xfrm>
          <a:prstGeom prst="rect">
            <a:avLst/>
          </a:prstGeom>
          <a:solidFill>
            <a:srgbClr val="F0F8F4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78892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sale at auction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3200400"/>
            <a:ext cx="4983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bidder (typically an investor) buys the property at auction. Bank recovers value quickly, minimal carrying cost. Clean exit.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2286000"/>
            <a:ext cx="5440680" cy="2194560"/>
          </a:xfrm>
          <a:prstGeom prst="rect">
            <a:avLst/>
          </a:prstGeom>
          <a:solidFill>
            <a:srgbClr val="FBF1F0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24688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278892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Reverts to REO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0" y="3200400"/>
            <a:ext cx="4983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qualifying bid received. Property reverts to lender ownership — bank now holds and manages real estate it never wanted. Estimated all-in cost: $50K–80K per property.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892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5166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foreclosure case at intake, can we predict which outcome will occur — and use that prediction to triage operations and intervene before auction?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288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18,871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743200" y="187452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liquidations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0" y="215798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2016–2024 dispositions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743200" y="27432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source files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0" y="30266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Fannie + Freddie loan-performance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743200" y="361188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data sources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0" y="389534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FRED, FHFA, Census, Zillow, BLS, IRS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4348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743200" y="44805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0" y="476402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numeric + 5 categorical</a:t>
            </a:r>
            <a:endParaRPr lang="en-US" sz="1100" dirty="0"/>
          </a:p>
        </p:txBody>
      </p:sp>
      <p:pic>
        <p:nvPicPr>
          <p:cNvPr id="17" name="Image 0" descr="/home/claude/charts/data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444980"/>
            <a:ext cx="5852160" cy="2242359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943600" y="544068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split (left) and target balance (right)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30+ external sources?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Loan-only models reach AUC ~0.71. The remaining performance comes from external context — what investors see when deciding to bid. Sources are organized into 8 categories aligned with the investor decision framework.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2743200" cy="128016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78892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889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2770632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economics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306324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Zillow ZORI, ZHVF, rent-to-price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606040"/>
            <a:ext cx="2743200" cy="128016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66160" y="278892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27889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69080" y="2770632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supply &amp; demand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9080" y="306324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Realtor.com inventory, FRED supply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0" y="2606040"/>
            <a:ext cx="2743200" cy="128016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46520" y="278892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7889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49440" y="2770632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psychology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49440" y="306324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UMich sentiment, inflation expectations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89720" y="2606040"/>
            <a:ext cx="2743200" cy="128016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26880" y="278892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0" y="27889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829800" y="2770632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economic conditions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829800" y="306324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FHFA MSA HPI, BLS QCEW, IRS migration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023360"/>
            <a:ext cx="2743200" cy="128016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5800" y="420624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88720" y="4187952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&amp; capital markets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88720" y="448056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spread, lending standards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29000" y="4023360"/>
            <a:ext cx="2743200" cy="128016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66160" y="420624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6616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69080" y="4187952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&amp; vacancy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069080" y="448056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Vacancy rates, SF delinquency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09360" y="4023360"/>
            <a:ext cx="2743200" cy="128016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46520" y="420624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4652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949440" y="4187952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risk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49440" y="448056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 NRI (county hazard scores)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189720" y="4023360"/>
            <a:ext cx="2743200" cy="128016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326880" y="420624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2688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829800" y="4187952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Neighborhood indicators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829800" y="448056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ACS — investor density, leverage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— 0.80 AUC, validated across approaches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5" name="Image 0" descr="/home/claude/charts/model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7095"/>
            <a:ext cx="7315200" cy="397533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0" y="17830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0" y="2194560"/>
            <a:ext cx="33832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GBT libraries land within 0.7 AUC pts of each other.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40-trial Optuna tuning produced no improvement — defaults were already optimal.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Ensembling: +0.0008 AUC. Not worth 3× deployment overhead.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LightGBM with default hyperparameters. Simplest, equivalent.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5623560"/>
            <a:ext cx="11064240" cy="640080"/>
          </a:xfrm>
          <a:prstGeom prst="rect">
            <a:avLst/>
          </a:prstGeom>
          <a:solidFill>
            <a:srgbClr val="F8F4E8"/>
          </a:solidFill>
          <a:ln w="9525">
            <a:solidFill>
              <a:srgbClr val="E6A5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5687568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Time-aware split (train 2016-22, test 2023-24):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drops to 0.7365 — sensitivity to macro regime shift. </a:t>
            </a:r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Argues for quarterly retraining.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whether a property sells?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5" name="Image 0" descr="/home/claude/charts/shap_driv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0734"/>
            <a:ext cx="7132320" cy="41823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55280" y="17830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drivers explain ~60%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55280" y="224028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225856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412480" y="253288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AZ/UT/NV: 75-81% sell. Late-cycle Midwest: &lt;40%.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55280" y="301752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303580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ratio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412480" y="331012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equity → investor will bid.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955280" y="379476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8130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to BPO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412480" y="408736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Auction starting price relative to market value.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55280" y="457200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5902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at foreclosure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412480" y="486460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overhang — high LTV → REO.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955280" y="534924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8412480" y="536752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type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412480" y="564184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SFR sells more than condo or manufactured.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lever — decile-based triage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5" name="Image 0" descr="/home/claude/charts/decile_l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009" y="1691640"/>
            <a:ext cx="7761662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686800" y="2331720"/>
            <a:ext cx="73152" cy="1051560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869680" y="2331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 DECILES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869680" y="2624328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88–95% sell rate. Auto-process. Minimal marketing.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0" y="3520440"/>
            <a:ext cx="73152" cy="105156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69680" y="3520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6 DECILES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869680" y="3813048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protocol. Most uncertainty, where effort moves the needle.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686800" y="4709160"/>
            <a:ext cx="73152" cy="10515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69680" y="4709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2 DECILES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869680" y="5001768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9–23% sell rate. Active intervention. Begin REO ops prep.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5669280"/>
            <a:ext cx="77724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5733288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10.2× spread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top decile (94.5%) and bottom decile (9.3%) sale rates.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auction venue matter? — Test 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1: Judicial vs Non-Judicial state classification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state's legal foreclosure framework drive disposition outcome?</a:t>
            </a:r>
            <a:endParaRPr lang="en-US" sz="1200" dirty="0"/>
          </a:p>
        </p:txBody>
      </p:sp>
      <p:pic>
        <p:nvPicPr>
          <p:cNvPr id="7" name="Image 0" descr="/home/claude/charts/channel_fi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2423160"/>
            <a:ext cx="8686800" cy="360939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6126480"/>
            <a:ext cx="1106424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617220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0.4pp gap between judicial and non-judicial. Counterfactual flip changes only 12 of 4,718 predictions (0.25%).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auction venue matter? — Test 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2: Online vs offline (indirect, via state platform-adoption tier)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data does not record actual venue. We grouped states by online-platform adoption and compared raw rates AND model residuals.</a:t>
            </a:r>
            <a:endParaRPr lang="en-US" sz="1200" dirty="0"/>
          </a:p>
        </p:txBody>
      </p:sp>
      <p:pic>
        <p:nvPicPr>
          <p:cNvPr id="7" name="Image 0" descr="/home/claude/charts/online_vs_off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2423160"/>
            <a:ext cx="8686800" cy="358016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6126480"/>
            <a:ext cx="1106424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617220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3.4pp gap collapses to 0.18pp once market context is controlled for. The apparent venue effect is market-selection.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is not the lever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3611880" cy="228600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6596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 pp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Judicial vs Non-Judicial sale rate gap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statistical wash; selection effect across states.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828800"/>
            <a:ext cx="3611880" cy="228600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96596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0" y="283464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cases would change outcome if channel was flipped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342900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of 4,718 test predictions move; 99.4% unchanged.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1828800"/>
            <a:ext cx="3611880" cy="228600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96596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→ 0.18 pp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412480" y="283464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Online-vs-offline raw → residual gap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0" y="342900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market context, the gap is 95% explained away.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526280"/>
            <a:ext cx="110642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E6A5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634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CANNOT DEFINITIVELY ANSWER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493776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data does not record actual auction venue. Our online-vs-offline test uses state-level platform-adoption tiers as a proxy. To test venue rigorously requires ServiceLink-internal auction-venue records joined to disposition outcomes — a 4-6 week analytical project.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 the opportunity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5" name="Image 0" descr="/home/claude/charts/dollar_i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6143"/>
            <a:ext cx="7772400" cy="38457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annual upside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686800" y="22860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(5% effectiveness)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86800" y="254203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$62.8M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6868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(10%)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0" y="331927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$95.6M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686800" y="3840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(15%)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86800" y="409651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$128.4M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686800" y="47091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$30M/yr from top-decile auction-marketing efficiency. Bottom-decile component scales linearly with intervention success rate.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Assumes: </a:t>
            </a:r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$65K/REO holding cost · 200K US GSE foreclosures/yr · 30% ServiceLink share · 84% bottom-decile REO rate. Replace with internal numbers before commitment.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indicators that lead the sale rate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5" name="Image 0" descr="/home/claude/charts/lead_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92738"/>
            <a:ext cx="7315200" cy="42783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46720" y="1783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indicators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046720" y="21945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macro signals move 6–11 months BEFORE the disposition outcome: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046720" y="292608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 listings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Homeowner vacancy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sentiment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service ratio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vacancy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expectations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046720" y="4937760"/>
            <a:ext cx="3657600" cy="1097280"/>
          </a:xfrm>
          <a:prstGeom prst="rect">
            <a:avLst/>
          </a:prstGeom>
          <a:solidFill>
            <a:srgbClr val="EFF3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83880" y="50292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183880" y="530352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 forward signals to scale bottom-decile triage staffing 6–11 months ahead of REO-rate spikes.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real test-set examples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5440680" cy="4297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116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 — HIGH-CONFIDENCE SALE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33172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Predicted: 0.986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SOLD 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338328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Florida, owner-occupied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$84K loan, originated 2016, 80% LTV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Disposed April 2022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452628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model said SELL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4800600"/>
            <a:ext cx="4983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at foreclosure: 0.43 (heavy de-leverage via appreciation)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BPO discount: 54.9% (deep auction starting price)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Florida ZIP, ZHVI $546K, 26-day metro DOM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440680" cy="4297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0116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 — HIGH-CONFIDENCE REO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233172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Predicted: 0.011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00800" y="2697480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REVERTED TO REO 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310896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338328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Minnesota, owner-occupied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$167K loan, originated 2018, 84% LTV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799, DTI 48 (high stress at origination)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452628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model said REVERT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4800600"/>
            <a:ext cx="4983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Minnesota historically low sale rate (29%)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debt stress (high origination DTI)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Disposition-period market unfavorable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OPERATIONALIZING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research to production — how this becomes a 2026 capability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 score any 2026 case at intake today. Two layers of work turn it into a production capability.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544068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2316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pipeline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 weeks of engineering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3520440"/>
            <a:ext cx="4983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adapter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pulls new cases from foreclosure system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joiner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pulls fresh macro + market context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service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REST API or batch job for ops systems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score drift detection, feature coverage alerts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integration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surfaces score and decile to case manager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5623560"/>
            <a:ext cx="4983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every 2026 case gets a probability of sale and decile assignment at intake.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2240280"/>
            <a:ext cx="544068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42316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269748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retraining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3108960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days per quarter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0" y="3520440"/>
            <a:ext cx="4983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new GSE disposition data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(Fannie + Freddie quarterly)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external sources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(FRED, Zillow, ACS, Realtor.com)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feature matrix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(automated pipeline)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LightGBM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same hyperparameters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holdout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promoting to production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5623560"/>
            <a:ext cx="4983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retraining: AUC drifts from 0.80 → 0.74 in one year. With it: stays at 0.80.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635508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needed: </a:t>
            </a:r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data scientist · 0.5–1 ML engineer · 0.5 data engineer · 1 product/ops owner. If not in-house: contract, consulting partner, or managed ML platform.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1371600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07568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30–90 days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1828800"/>
            <a:ext cx="8503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cost assumptions internally — replace $65K/REO and 30% market share with actuals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decile triage on 6–8 weeks of incoming cases without operational change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BPO data integration owner — highest-leverage data improvement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73152" cy="1371600"/>
          </a:xfrm>
          <a:prstGeom prst="rect">
            <a:avLst/>
          </a:prstGeom>
          <a:solidFill>
            <a:srgbClr val="E6A500"/>
          </a:solidFill>
          <a:ln w="12700">
            <a:solidFill>
              <a:srgbClr val="E6A5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91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MEDIUM-TERM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5844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0" y="3337560"/>
            <a:ext cx="8503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Productionize the model with quarterly retraining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 triage workflow tied to the score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BPO proxy with real BPO data (+0.02–0.04 AUC improvement)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800600"/>
            <a:ext cx="731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8006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509320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months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00400" y="4846320"/>
            <a:ext cx="8503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online-vs-offline rigorously with internal venue records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non-GSE portfolios (FHA, VA, private-label)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full property-characteristic data (ATTOM, CoreLogic, MLS)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Foreclosure Analysis  |  ServiceLink  | 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REMEMBER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286000"/>
            <a:ext cx="1097280" cy="45720"/>
          </a:xfrm>
          <a:prstGeom prst="rect">
            <a:avLst/>
          </a:prstGeom>
          <a:solidFill>
            <a:srgbClr val="E6A500"/>
          </a:solidFill>
          <a:ln w="12700">
            <a:solidFill>
              <a:srgbClr val="E6A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606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Foreclosure outcomes are predictable —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" y="3063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lever is loan + market, not auction venue.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40233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0.80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49377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model that achieves 10× lift between top and bottom deciles.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0" y="40233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754880" y="45262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isn't the lever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0" y="49377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0.4pp judicial gap; 0.18pp residual online-vs-offline.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12480" y="40233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412480" y="45262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$63–128M annual upside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12480" y="49377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decile-based triage on existing caseload.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· Q&amp;A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Prepared for ServiceLink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GSE Foreclosure Disposition Analysis</dc:title>
  <dc:subject>PptxGenJS Presentation</dc:subject>
  <dc:creator>GSE Foreclosure Analysis Team</dc:creator>
  <cp:lastModifiedBy>GSE Foreclosure Analysis Team</cp:lastModifiedBy>
  <cp:revision>1</cp:revision>
  <dcterms:created xsi:type="dcterms:W3CDTF">2026-04-28T17:27:41Z</dcterms:created>
  <dcterms:modified xsi:type="dcterms:W3CDTF">2026-04-28T17:27:41Z</dcterms:modified>
</cp:coreProperties>
</file>